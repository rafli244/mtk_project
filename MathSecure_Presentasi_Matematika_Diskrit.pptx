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5912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8C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5912" cy="109728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F534B"/>
                </a:solidFill>
                <a:latin typeface="Trebuchet MS"/>
              </a:defRPr>
            </a:pPr>
            <a:r>
              <a:t>STUDI KASUS MATEMATIKA DISKRIT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0318"/>
                </a:solidFill>
                <a:latin typeface="Trebuchet MS"/>
              </a:defRPr>
            </a:pPr>
            <a:r>
              <a:t>Sistem Autentikasi Berbasis React</a:t>
            </a:r>
            <a:br/>
            <a:r>
              <a:t>dan Kriptografi XOR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8C705F"/>
                </a:solidFill>
                <a:latin typeface="Arial"/>
              </a:defRPr>
            </a:pPr>
            <a:r>
              <a:t>Media Pembelajaran Logika Proposisional, Teori Himpunan, Relasi Biner &amp; Hashing SHA-256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966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05F"/>
                </a:solidFill>
                <a:latin typeface="Arial"/>
              </a:defRPr>
            </a:pPr>
            <a:r>
              <a:t>Oleh Kelompok: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1A1D"/>
                </a:solidFill>
                <a:latin typeface="Arial"/>
              </a:defRPr>
            </a:pPr>
            <a:r>
              <a:t>1. M Risqullah Naufal    |    2. Lingzhi    |    3. Rafli Hanafi    |    4. Victor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C705F"/>
                </a:solidFill>
                <a:latin typeface="Arial"/>
              </a:defRPr>
            </a:pPr>
            <a:r>
              <a:t>Program Studi Teknik Informatika - Politeknik Caltex Riau  |  TA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 -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Latar Belakang &amp; Rumusan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Latar Belakang Proyek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Pentingnya aspek keamanan siber pada sistem otentikasi akun web modern.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Konsep dasar pendukung keamanan (Logika Proposisional, Himpunan, Relasi) sering diajarkan secara sangat teoritis di perkuliahan.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Kebutuhan media simulasi interaktif agar mahasiswa dapat memanipulasi parameter boolean/matriks secara praktis dan visual.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120640" cy="4114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F0318"/>
                </a:solidFill>
                <a:latin typeface="Trebuchet MS"/>
              </a:defRPr>
            </a:pPr>
            <a:r>
              <a:t>Rumusan Masalah Utama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1. Bagaimana memodelkan kelayakan login berdasarkan parameter lingkungan menggunakan Aljabar Boolean?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2. Bagaimana memetakan hak otorisasi pengguna (Admin &amp; Dosen) secara visual melalui Diagram Venn?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3. Bagaimana memetakan relasi peran pengguna dalam bentuk representasi biner matriks?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4. Bagaimana memperlihatkan tahapan enkripsi bitwise XOR dan hash SHA-256?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 -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Tujuan &amp; Manfaat Proyek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1206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Tujuan Penelitian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✓  Menerapkan ekspresi logika proposisional pada evaluasi login web.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✓  Membuat modul pembelajaran interaktif berupa visualisasi Diagram Venn untuk materi Teori Himpunan.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✓  Membangun representasi matriks relasi user-role biner.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✓  Menguji modul simulator bitwise XOR dan enkripsi SHA-256.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1206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C705F"/>
                </a:solidFill>
                <a:latin typeface="Trebuchet MS"/>
              </a:defRPr>
            </a:pPr>
            <a:r>
              <a:t>Manfaat Yang Dihasilkan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✦  Bagi Mahasiswa/Akademik:</a:t>
            </a:r>
            <a:br/>
            <a:r>
              <a:t>Menjembatani jurang pemisah antara teori matematika diskrit yang abstrak dan implementasi perangkat lunak nyata.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✦  Bagi Pengembang/Keamanan:</a:t>
            </a:r>
            <a:br/>
            <a:r>
              <a:t>Menunjukkan efektivitas Context-Aware Security yang mengurangi gesekan login bagi pengguna terpercaya tanpa menurunkan level keamanan.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II &amp; IV - LOGIKA MATEMATIKA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Logika Proposisional Otentikasi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A1D"/>
                </a:solidFill>
                <a:latin typeface="Arial"/>
              </a:defRPr>
            </a:pPr>
            <a:r>
              <a:t>Keputusan keberhasilan login (L) dievaluasi secara dinamis berdasarkan 4 variabel proposisional: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4688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p (Kredensial)</a:t>
            </a:r>
          </a:p>
          <a:p>
            <a:pPr>
              <a:defRPr sz="1000">
                <a:solidFill>
                  <a:srgbClr val="1E1A1D"/>
                </a:solidFill>
                <a:latin typeface="Arial"/>
              </a:defRPr>
            </a:pPr>
            <a:r>
              <a:t>Username, password, dan pilihan role sesuai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828800"/>
            <a:ext cx="24688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9202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q (Akun Aktif)</a:t>
            </a:r>
          </a:p>
          <a:p>
            <a:pPr>
              <a:defRPr sz="1000">
                <a:solidFill>
                  <a:srgbClr val="1E1A1D"/>
                </a:solidFill>
                <a:latin typeface="Arial"/>
              </a:defRPr>
            </a:pPr>
            <a:r>
              <a:t>Status akun pengguna tidak ditangguhkan.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828800"/>
            <a:ext cx="24688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r (Perangkat)</a:t>
            </a:r>
          </a:p>
          <a:p>
            <a:pPr>
              <a:defRPr sz="1000">
                <a:solidFill>
                  <a:srgbClr val="1E1A1D"/>
                </a:solidFill>
                <a:latin typeface="Arial"/>
              </a:defRPr>
            </a:pPr>
            <a:r>
              <a:t>Perangkat terdaftar ('Remember Device' aktif).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59" y="1828800"/>
            <a:ext cx="24688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799" y="19202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s (Captcha)</a:t>
            </a:r>
          </a:p>
          <a:p>
            <a:pPr>
              <a:defRPr sz="1000">
                <a:solidFill>
                  <a:srgbClr val="1E1A1D"/>
                </a:solidFill>
                <a:latin typeface="Arial"/>
              </a:defRPr>
            </a:pPr>
            <a:r>
              <a:t>Pengguna berhasil menjawab soal Captcha.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515600" cy="1645920"/>
          </a:xfrm>
          <a:prstGeom prst="rect">
            <a:avLst/>
          </a:prstGeom>
          <a:solidFill>
            <a:srgbClr val="FAF8F5"/>
          </a:solidFill>
          <a:ln w="1905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C705F"/>
                </a:solidFill>
                <a:latin typeface="Trebuchet MS"/>
              </a:defRPr>
            </a:pPr>
            <a:r>
              <a:t>FORMULA ALJABAR BOOLEAN (L = STATUS HASIL LOGIN)</a:t>
            </a:r>
          </a:p>
          <a:p>
            <a:pPr>
              <a:spcAft>
                <a:spcPts val="600"/>
              </a:spcAft>
              <a:defRPr sz="2400" b="1">
                <a:solidFill>
                  <a:srgbClr val="1F0318"/>
                </a:solidFill>
                <a:latin typeface="Courier New"/>
              </a:defRPr>
            </a:pPr>
            <a:r>
              <a:t>L = (p ∧ q ∧ r) ∨ (p ∧ q ∧ ¬r ∧ s)</a:t>
            </a:r>
          </a:p>
          <a:p>
            <a:pPr>
              <a:defRPr sz="900" i="1">
                <a:solidFill>
                  <a:srgbClr val="1E1A1D"/>
                </a:solidFill>
                <a:latin typeface="Arial"/>
              </a:defRPr>
            </a:pPr>
            <a:r>
              <a:t>*Keterangan: Login berhasil jika kredensial valid (p) dan akun aktif (q), DAN (perangkat dikenali (r) ATAU jawaban captcha benar (s)).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IV -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Tabel Kebenaran Otentikasi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A1D"/>
                </a:solidFill>
                <a:latin typeface="Arial"/>
              </a:defRPr>
            </a:pPr>
            <a:r>
              <a:t>Representasi tabel kebenaran yang diimplementasikan pada mesin logika proposisional: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"/>
                <a:gridCol w="731520"/>
                <a:gridCol w="914400"/>
                <a:gridCol w="1371600"/>
                <a:gridCol w="1645920"/>
                <a:gridCol w="1097280"/>
                <a:gridCol w="32918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p ∧ q ∧ r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p ∧ q ∧ ¬r ∧ 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Hasil (L)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Kasus Keterangan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SUKSES: Login di Perangkat Terpercaya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SUKSES: Login lewat Verifikasi Captcha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GAGAL: Captcha tidak cocok/valid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GAGAL: Akun ditangguhkan (Suspended)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Apapun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GAGAL: Kredensial tidak cocok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IV -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Pohon Keputusan (Decision Tree)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Alur Evaluasi Pohon Keputusan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Pohon keputusan menyederhanakan alur proposisi biner menjadi serangkaian langkah percabangan terurut.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Di antarmuka web, pohon keputusan digambar menggunakan grafis interaktif.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Jalur evaluasi biner akan menyala secara dinamis: node bernilai True diwarnai Hijau, dan node bernilai False diwarnai Merah.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Memudahkan proses evaluasi visual dan pengajaran logika sekuensial bagi mahasiswa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120640" cy="4114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F0318"/>
                </a:solidFill>
                <a:latin typeface="Courier New"/>
              </a:defRPr>
            </a:pPr>
            <a:r>
              <a:t>             [ INPUT DATA LOGIN ]</a:t>
            </a:r>
            <a:br/>
            <a:r>
              <a:t>                       │</a:t>
            </a:r>
            <a:br/>
            <a:r>
              <a:t>             Kredensial Valid? (p)</a:t>
            </a:r>
            <a:br/>
            <a:r>
              <a:t>              ├───(Tidak)───► [LOGIN GAGAL]</a:t>
            </a:r>
            <a:br/>
            <a:r>
              <a:t>              └───(Ya)</a:t>
            </a:r>
            <a:br/>
            <a:r>
              <a:t>                    │</a:t>
            </a:r>
            <a:br/>
            <a:r>
              <a:t>               Akun Aktif? (q)</a:t>
            </a:r>
            <a:br/>
            <a:r>
              <a:t>                ├───(Tidak)───► [LOGIN GAGAL]</a:t>
            </a:r>
            <a:br/>
            <a:r>
              <a:t>                └───(Ya)</a:t>
            </a:r>
            <a:br/>
            <a:r>
              <a:t>                      │</a:t>
            </a:r>
            <a:br/>
            <a:r>
              <a:t>                 Ingat Perangkat? (r)</a:t>
            </a:r>
            <a:br/>
            <a:r>
              <a:t>                  ├───(Ya)─────────────► [SUKSES]</a:t>
            </a:r>
            <a:br/>
            <a:r>
              <a:t>                  └───(Tidak)</a:t>
            </a:r>
            <a:br/>
            <a:r>
              <a:t>                        │</a:t>
            </a:r>
            <a:br/>
            <a:r>
              <a:t>                   Captcha Valid? (s)</a:t>
            </a:r>
            <a:br/>
            <a:r>
              <a:t>                    ├───(Ya)───────────► [SUKSES]</a:t>
            </a:r>
            <a:br/>
            <a:r>
              <a:t>                    └───(Tidak)────────► [GAGAL]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II &amp; IV - TEORI HIMPUNAN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Teori Himpunan &amp; Peran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A1D"/>
                </a:solidFill>
                <a:latin typeface="Arial"/>
              </a:defRPr>
            </a:pPr>
            <a:r>
              <a:t>Otorisasi pengguna dipetakan sebagai anggota dari himpunan bagian dari semesta (U):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3832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Himpunan Semesta (U)</a:t>
            </a:r>
          </a:p>
          <a:p>
            <a:pPr>
              <a:spcAft>
                <a:spcPts val="8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U = { Budi, Siti, Dewi, Gede, Anto }</a:t>
            </a:r>
          </a:p>
          <a:p>
            <a:pPr>
              <a:defRPr sz="950">
                <a:solidFill>
                  <a:srgbClr val="1E1A1D"/>
                </a:solidFill>
                <a:latin typeface="Arial"/>
              </a:defRPr>
            </a:pPr>
            <a:r>
              <a:t>Semua pengguna terdaftar di sistem.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3832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Himpunan Admin (A)</a:t>
            </a:r>
          </a:p>
          <a:p>
            <a:pPr>
              <a:spcAft>
                <a:spcPts val="8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A = { Budi, Gede, Anto }</a:t>
            </a:r>
          </a:p>
          <a:p>
            <a:pPr>
              <a:defRPr sz="950">
                <a:solidFill>
                  <a:srgbClr val="1E1A1D"/>
                </a:solidFill>
                <a:latin typeface="Arial"/>
              </a:defRPr>
            </a:pPr>
            <a:r>
              <a:t>Pengguna dengan peran Admin.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737360"/>
            <a:ext cx="3383280" cy="1828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7F534B"/>
                </a:solidFill>
                <a:latin typeface="Trebuchet MS"/>
              </a:defRPr>
            </a:pPr>
            <a:r>
              <a:t>Himpunan Dosen (D)</a:t>
            </a:r>
          </a:p>
          <a:p>
            <a:pPr>
              <a:spcAft>
                <a:spcPts val="8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D = { Budi, Siti, Dewi }</a:t>
            </a:r>
          </a:p>
          <a:p>
            <a:pPr>
              <a:defRPr sz="950">
                <a:solidFill>
                  <a:srgbClr val="1E1A1D"/>
                </a:solidFill>
                <a:latin typeface="Arial"/>
              </a:defRPr>
            </a:pPr>
            <a:r>
              <a:t>Pengguna dengan peran Dosen.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10515600" cy="1737360"/>
          </a:xfrm>
          <a:prstGeom prst="rect">
            <a:avLst/>
          </a:prstGeom>
          <a:solidFill>
            <a:srgbClr val="FAF8F5"/>
          </a:solidFill>
          <a:ln w="1905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C705F"/>
                </a:solidFill>
                <a:latin typeface="Trebuchet MS"/>
              </a:defRPr>
            </a:pPr>
            <a:r>
              <a:t>OPERASI ALJABAR HIMPUNAN PADA GRUP OTORISASI</a:t>
            </a:r>
          </a:p>
          <a:p>
            <a:pPr>
              <a:spcAft>
                <a:spcPts val="6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• Irisan (A ∩ D) = { Budi }  --&gt; Pengguna dengan peran ganda Admin sekaligus Dosen.</a:t>
            </a:r>
          </a:p>
          <a:p>
            <a:pPr>
              <a:spcAft>
                <a:spcPts val="6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• Selisih (A - D) = { Gede, Anto }  --&gt; Pengguna dengan peran murni Admin saja.</a:t>
            </a:r>
          </a:p>
          <a:p>
            <a:pPr>
              <a:spcAft>
                <a:spcPts val="600"/>
              </a:spcAft>
              <a:defRPr sz="1100" b="1">
                <a:solidFill>
                  <a:srgbClr val="1F0318"/>
                </a:solidFill>
                <a:latin typeface="Courier New"/>
              </a:defRPr>
            </a:pPr>
            <a:r>
              <a:t>• Selisih (D - A) = { Siti, Dewi }  --&gt; Pengguna dengan peran murni Dosen saja.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IV - PEMBAHASAN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Visualisasi Diagram 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Diagram Venn Interaktif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Direpresentasikan dengan grafik SVG dinamis di antarmuka sandbox web.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Area perpotongan lingkaran melambangkan Irisan (A ∩ D), yang memuat user Budi.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Area lingkaran Admin saja memuat Gede dan Anto.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Area lingkaran Dosen saja memuat Siti dan Dewi.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Visualisasi mempermudah peninjauan struktur set data database relasional secara intuitif.</a:t>
            </a:r>
          </a:p>
        </p:txBody>
      </p:sp>
      <p:sp>
        <p:nvSpPr>
          <p:cNvPr id="9" name="Oval 8"/>
          <p:cNvSpPr/>
          <p:nvPr/>
        </p:nvSpPr>
        <p:spPr>
          <a:xfrm>
            <a:off x="7040879" y="2194560"/>
            <a:ext cx="2011680" cy="2011680"/>
          </a:xfrm>
          <a:prstGeom prst="ellipse">
            <a:avLst/>
          </a:prstGeom>
          <a:solidFill>
            <a:srgbClr val="7F534B"/>
          </a:solidFill>
          <a:ln w="2540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19" y="1645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7F534B"/>
                </a:solidFill>
                <a:latin typeface="Trebuchet MS"/>
              </a:defRPr>
            </a:pPr>
            <a:r>
              <a:t>Admin (A)</a:t>
            </a:r>
          </a:p>
        </p:txBody>
      </p:sp>
      <p:sp>
        <p:nvSpPr>
          <p:cNvPr id="11" name="Oval 10"/>
          <p:cNvSpPr/>
          <p:nvPr/>
        </p:nvSpPr>
        <p:spPr>
          <a:xfrm>
            <a:off x="8046719" y="2194560"/>
            <a:ext cx="2011680" cy="2011680"/>
          </a:xfrm>
          <a:prstGeom prst="ellipse">
            <a:avLst/>
          </a:prstGeom>
          <a:solidFill>
            <a:srgbClr val="8C705F"/>
          </a:solidFill>
          <a:ln w="25400">
            <a:solidFill>
              <a:srgbClr val="8C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645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8C705F"/>
                </a:solidFill>
                <a:latin typeface="Trebuchet MS"/>
              </a:defRPr>
            </a:pPr>
            <a:r>
              <a:t>Dosen 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3017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1A1D"/>
                </a:solidFill>
                <a:latin typeface="Arial"/>
              </a:defRPr>
            </a:pPr>
            <a:r>
              <a:t>gede</a:t>
            </a:r>
            <a:br/>
            <a:r>
              <a:t>anto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F534B"/>
                </a:solidFill>
                <a:latin typeface="Arial"/>
              </a:defRPr>
            </a:pPr>
            <a:r>
              <a:t>budi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17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E1A1D"/>
                </a:solidFill>
                <a:latin typeface="Arial"/>
              </a:defRPr>
            </a:pPr>
            <a:r>
              <a:t>siti</a:t>
            </a:r>
            <a:br/>
            <a:r>
              <a:t>dewi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II &amp; IV - RELASI MATEMATIKA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Relasi &amp; Matriks Relasi Biner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Relasi Keanggotaan Peran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Relasi biner R memetakan Pengguna ke Peran (Role) otorisasi mereka.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Dinyatakan dalam himpunan pasangan terurut:</a:t>
            </a:r>
            <a:br/>
            <a:r>
              <a:t>R = { (Budi, Admin), (Budi, Dosen), (Siti, Dosen), (Dewi, Dosen), (Gede, Admin), (Anto, Admin) }</a:t>
            </a:r>
          </a:p>
          <a:p>
            <a:pPr>
              <a:spcAft>
                <a:spcPts val="12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Tipe Relasi: One-to-Many. Relasi biner ini bukan fungsi karena elemen domain Budi dipetakan ke lebih dari satu kodomain.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120640" cy="4114800"/>
          </a:xfrm>
          <a:prstGeom prst="rect">
            <a:avLst/>
          </a:prstGeom>
          <a:solidFill>
            <a:srgbClr val="FAF8F5"/>
          </a:solidFill>
          <a:ln>
            <a:solidFill>
              <a:srgbClr val="E2D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0318"/>
                </a:solidFill>
                <a:latin typeface="Trebuchet MS"/>
              </a:defRPr>
            </a:pPr>
            <a:r>
              <a:t>Representasi Matriks Relasi Biner (M)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01168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Pengguna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Dosen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Budi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Siti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Dewi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Gede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7F534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II &amp; IV - KRIPTOGRAFI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Kriptografi: SHA-256 vs XOR Cipher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51206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F534B"/>
                </a:solidFill>
                <a:latin typeface="Trebuchet MS"/>
              </a:defRPr>
            </a:pPr>
            <a:r>
              <a:t>1. Hashing SHA-256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Fungsi kriptografi satu-arah (One-way Hashing) standar industri yang aman.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Mengonversi input password menjadi digest unik sepanjang 256-bit (64 karakter heksadesimal).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Sifat: Non-reversible (tidak dapat didekripsi balik ke teks asli).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Proses: Padding bit, konstanta inisialisasi register akar pecahan bilangan prima, kompresi 64 putaran.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1206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7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C705F"/>
                </a:solidFill>
                <a:latin typeface="Trebuchet MS"/>
              </a:defRPr>
            </a:pPr>
            <a:r>
              <a:t>2. Enkripsi XOR Simetris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Digunakan untuk visualisasi akademis bitwise biner di laboratorium interaktif.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Meng-XOR bitwise setiap karakter kata sandi dengan Kunci K = 90 (01011010).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Sifat: Involutif. Operasi enkripsi dan dekripsi menggunakan fungsi biner matematika yang persis sama.</a:t>
            </a:r>
          </a:p>
          <a:p>
            <a:pPr>
              <a:spcAft>
                <a:spcPts val="1000"/>
              </a:spcAft>
              <a:defRPr sz="1100">
                <a:solidFill>
                  <a:srgbClr val="1E1A1D"/>
                </a:solidFill>
                <a:latin typeface="Arial"/>
              </a:defRPr>
            </a:pPr>
            <a:r>
              <a:t>• Formula: P ⊕ K = C  dan  C ⊕ K = 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73152" cy="6126480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F534B"/>
                </a:solidFill>
                <a:latin typeface="Trebuchet MS"/>
              </a:defRPr>
            </a:pPr>
            <a:r>
              <a:t>BAB V - HASIL &amp; ANALISIS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0318"/>
                </a:solidFill>
                <a:latin typeface="Trebuchet MS"/>
              </a:defRPr>
            </a:pPr>
            <a:r>
              <a:t>Skenario Pengujian &amp; Hasil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705F"/>
                </a:solidFill>
                <a:latin typeface="Arial"/>
              </a:defRPr>
            </a:pPr>
            <a:r>
              <a:t>MathSecure - Sistem Autentikasi Kontekstual | Politeknik Caltex Riau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A1D"/>
                </a:solidFill>
                <a:latin typeface="Arial"/>
              </a:defRPr>
            </a:pPr>
            <a:r>
              <a:t>Sistem diuji dengan 5 skenario dengan hasil keputusan logika proposisional yang akurat: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754880"/>
                <a:gridCol w="1828800"/>
                <a:gridCol w="1828800"/>
                <a:gridCol w="15544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Skenario Pengujian Kondisi (p, q, r, s)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Hasil Ekspektasi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Hasil Aktual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0318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AF8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Kredensial Valid, Akun Aktif, Perangkat Terpercaya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Login Sukses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Login Sukses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Sesuai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Kredensial Valid, Akun Aktif, Perangkat Asing, Captcha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Login Sukses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Login Sukses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Sesuai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Kredensial Tidak Valid / 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Sesuai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Akun Ditangguhkan (Suspended)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Sesuai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A1D"/>
                          </a:solidFill>
                          <a:latin typeface="Arial"/>
                        </a:defRPr>
                      </a:pPr>
                      <a:r>
                        <a:t>Kredensial Valid, Perangkat Asing, Captcha Salah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E123C"/>
                          </a:solidFill>
                          <a:latin typeface="Arial"/>
                        </a:defRPr>
                      </a:pPr>
                      <a:r>
                        <a:t>Login Ditolak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Sesuai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F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F5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9445752" cy="109728"/>
          </a:xfrm>
          <a:prstGeom prst="rect">
            <a:avLst/>
          </a:prstGeom>
          <a:solidFill>
            <a:srgbClr val="7F5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F534B"/>
                </a:solidFill>
                <a:latin typeface="Trebuchet MS"/>
              </a:defRPr>
            </a:pPr>
            <a:r>
              <a:t>KESIMPULAN AKHIR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1E1A1D"/>
                </a:solidFill>
                <a:latin typeface="Arial"/>
              </a:defRPr>
            </a:pPr>
            <a:r>
              <a:t>1. Aplikasi MathSecure berhasil menjembatani teori matematika diskrit yang abstrak (Logika, Himpunan, Relasi, Kriptografi) dengan implementasi nyata pada sistem login berbasis React.</a:t>
            </a:r>
          </a:p>
          <a:p>
            <a:pPr>
              <a:spcAft>
                <a:spcPts val="1400"/>
              </a:spcAft>
              <a:defRPr sz="1200">
                <a:solidFill>
                  <a:srgbClr val="1E1A1D"/>
                </a:solidFill>
                <a:latin typeface="Arial"/>
              </a:defRPr>
            </a:pPr>
            <a:r>
              <a:t>2. Keberadaan visualisasi laboratorium interaktif (Diagram Venn SVG, Pohon Keputusan Dioda Menyala, Simulator Hashing) sangat membantu mempermudah pemahaman logika komputer mahasiswa.</a:t>
            </a:r>
          </a:p>
          <a:p>
            <a:pPr>
              <a:spcAft>
                <a:spcPts val="1400"/>
              </a:spcAft>
              <a:defRPr sz="1200">
                <a:solidFill>
                  <a:srgbClr val="1E1A1D"/>
                </a:solidFill>
                <a:latin typeface="Arial"/>
              </a:defRPr>
            </a:pPr>
            <a:r>
              <a:t>3. Penerapan sistem Context-Aware Authentication berhasil menyeimbangkan aspek keamanan siber terenkripsi kuat dengan kemudahan akses pengalaman login pengguna (UX).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0318"/>
                </a:solidFill>
                <a:latin typeface="Trebuchet MS"/>
              </a:defRPr>
            </a:pPr>
            <a:r>
              <a:t>Sekian &amp; Terima Kasih - Ada Pertanyaan?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